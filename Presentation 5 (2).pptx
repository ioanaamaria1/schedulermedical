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7B52B2D-9A86-4DBC-ADA7-6B3E0EEA0D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B0E1"/>
    <a:srgbClr val="B7E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4A771-22FF-A856-A0D3-07619D2E5B6C}" v="70" dt="2026-05-14T01:15:06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oanaamaria1/SchedulerMedical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3554" y="2364527"/>
            <a:ext cx="8392439" cy="602642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Scheduler </a:t>
            </a:r>
            <a:r>
              <a:rPr lang="en-US" sz="3200" b="1" err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inteligent</a:t>
            </a:r>
            <a:r>
              <a:rPr lang="en-US" sz="3200" b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en-US" sz="3200" b="1" err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pentru</a:t>
            </a:r>
            <a:r>
              <a:rPr lang="en-US" sz="3200" b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en-US" sz="3200" b="1" err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programări</a:t>
            </a:r>
            <a:r>
              <a:rPr lang="en-US" sz="3200" b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en-US" sz="3200" b="1" err="1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medicale</a:t>
            </a:r>
            <a:endParaRPr lang="en-US" sz="3200" b="1" err="1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85207" y="3424585"/>
            <a:ext cx="5818692" cy="5806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Studenti</a:t>
            </a:r>
            <a:r>
              <a:rPr lang="en-US" dirty="0">
                <a:latin typeface="Times New Roman"/>
                <a:cs typeface="Times New Roman"/>
              </a:rPr>
              <a:t>: Pop Maria-Ioana, Ciocan Gabriel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Coordonator</a:t>
            </a:r>
            <a:r>
              <a:rPr lang="en-US" dirty="0">
                <a:latin typeface="Times New Roman"/>
                <a:cs typeface="Times New Roman"/>
              </a:rPr>
              <a:t>: Sabo Cosmin Nicolae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AEA3A-644C-F64C-A9FC-D8612285B1A9}"/>
              </a:ext>
            </a:extLst>
          </p:cNvPr>
          <p:cNvSpPr txBox="1"/>
          <p:nvPr/>
        </p:nvSpPr>
        <p:spPr>
          <a:xfrm>
            <a:off x="2351678" y="2961815"/>
            <a:ext cx="79373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Times New Roman"/>
                <a:ea typeface="+mn-lt"/>
                <a:cs typeface="Times New Roman"/>
              </a:rPr>
              <a:t>Centrul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Universitar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Nord Baia Mare, 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Facultatea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ea typeface="+mn-lt"/>
                <a:cs typeface="Times New Roman"/>
              </a:rPr>
              <a:t>Stiinte</a:t>
            </a:r>
            <a:endParaRPr lang="en-US" sz="2400" dirty="0" err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urry image of a calendar&#10;&#10;AI-generated content may be incorrect.">
            <a:extLst>
              <a:ext uri="{FF2B5EF4-FFF2-40B4-BE49-F238E27FC236}">
                <a16:creationId xmlns:a16="http://schemas.microsoft.com/office/drawing/2014/main" id="{073EE139-852E-5968-A5F7-06A37D992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4" y="643467"/>
            <a:ext cx="10364771" cy="5571065"/>
          </a:xfrm>
          <a:prstGeom prst="rect">
            <a:avLst/>
          </a:prstGeom>
          <a:ln>
            <a:noFill/>
          </a:ln>
        </p:spPr>
      </p:pic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white sky with clouds&#10;&#10;AI-generated content may be incorrect.">
            <a:extLst>
              <a:ext uri="{FF2B5EF4-FFF2-40B4-BE49-F238E27FC236}">
                <a16:creationId xmlns:a16="http://schemas.microsoft.com/office/drawing/2014/main" id="{7FA1FD97-CBC2-F456-288B-7E81479D52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996050" y="3946993"/>
            <a:ext cx="3112431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8" name="Picture 17" descr="A white sky with clouds&#10;&#10;AI-generated content may be incorrect.">
            <a:extLst>
              <a:ext uri="{FF2B5EF4-FFF2-40B4-BE49-F238E27FC236}">
                <a16:creationId xmlns:a16="http://schemas.microsoft.com/office/drawing/2014/main" id="{6BF89EBE-B5A5-A51B-7492-CD71973796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509343" y="3935786"/>
            <a:ext cx="3112431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 descr="A white sky with clouds&#10;&#10;AI-generated content may be incorrect.">
            <a:extLst>
              <a:ext uri="{FF2B5EF4-FFF2-40B4-BE49-F238E27FC236}">
                <a16:creationId xmlns:a16="http://schemas.microsoft.com/office/drawing/2014/main" id="{DB3481E4-35C4-5F12-557A-77388FEA70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6050" y="1918728"/>
            <a:ext cx="3112431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0" name="Picture 19" descr="A white sky with clouds&#10;&#10;AI-generated content may be incorrect.">
            <a:extLst>
              <a:ext uri="{FF2B5EF4-FFF2-40B4-BE49-F238E27FC236}">
                <a16:creationId xmlns:a16="http://schemas.microsoft.com/office/drawing/2014/main" id="{D0DA60D3-639B-DE05-EE2D-DDF00F7273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509343" y="1918727"/>
            <a:ext cx="3112431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6813853-C6BF-0F4E-A8E2-2E2D74E965AE}"/>
              </a:ext>
            </a:extLst>
          </p:cNvPr>
          <p:cNvSpPr txBox="1"/>
          <p:nvPr/>
        </p:nvSpPr>
        <p:spPr>
          <a:xfrm>
            <a:off x="4057034" y="764228"/>
            <a:ext cx="4065493" cy="954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 </a:t>
            </a:r>
            <a:r>
              <a:rPr lang="en-US" sz="2800" b="1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ce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trebuie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digitalizat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br>
              <a:rPr lang="en-US" sz="28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2800" b="1" err="1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managementul</a:t>
            </a:r>
            <a:r>
              <a:rPr lang="en-US" sz="2800" b="1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 medical?</a:t>
            </a:r>
            <a:endParaRPr lang="en-US" sz="2800" b="1">
              <a:solidFill>
                <a:srgbClr val="45B0E1"/>
              </a:solidFill>
              <a:latin typeface="Times New Roman"/>
              <a:cs typeface="Times New Roman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59FFE0-F1B2-2657-40A9-558DEDBA7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836" y="2021540"/>
            <a:ext cx="394447" cy="43927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69AD0E0-1F5B-4D3B-F967-429D56585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2923" y="2032746"/>
            <a:ext cx="528918" cy="42806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795B74A-286C-232F-F260-D89BFAEEF4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395" y="4038599"/>
            <a:ext cx="540124" cy="56253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F66FAAA-5170-342D-BCA2-CBF5987CF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1717" y="4094630"/>
            <a:ext cx="551331" cy="43927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7401CF9-3094-761D-DC3E-F69A0FC4D321}"/>
              </a:ext>
            </a:extLst>
          </p:cNvPr>
          <p:cNvSpPr txBox="1"/>
          <p:nvPr/>
        </p:nvSpPr>
        <p:spPr>
          <a:xfrm>
            <a:off x="2617965" y="1920791"/>
            <a:ext cx="250787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latin typeface="Times New Roman"/>
                <a:ea typeface="+mn-lt"/>
                <a:cs typeface="Times New Roman"/>
              </a:rPr>
              <a:t>Limitarile</a:t>
            </a:r>
            <a:r>
              <a:rPr lang="en-US" sz="160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sistemului</a:t>
            </a:r>
            <a:r>
              <a:rPr lang="en-US" sz="160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telefonic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endParaRPr lang="en-US" sz="1400">
              <a:latin typeface="Times New Roman"/>
              <a:ea typeface="+mn-lt"/>
              <a:cs typeface="Times New Roman"/>
            </a:endParaRPr>
          </a:p>
          <a:p>
            <a:pPr algn="l"/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A2D4D9-AB62-DC3F-A3C1-4D24F8B95E61}"/>
              </a:ext>
            </a:extLst>
          </p:cNvPr>
          <p:cNvSpPr txBox="1"/>
          <p:nvPr/>
        </p:nvSpPr>
        <p:spPr>
          <a:xfrm>
            <a:off x="8247529" y="4090147"/>
            <a:ext cx="91888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err="1">
                <a:solidFill>
                  <a:srgbClr val="000000"/>
                </a:solidFill>
                <a:latin typeface="Times New Roman"/>
                <a:ea typeface="Google Sans Flex"/>
                <a:cs typeface="Times New Roman"/>
              </a:rPr>
              <a:t>Hartiile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5469C9-3468-4ECE-345D-F0EA92A77DA8}"/>
              </a:ext>
            </a:extLst>
          </p:cNvPr>
          <p:cNvSpPr txBox="1"/>
          <p:nvPr/>
        </p:nvSpPr>
        <p:spPr>
          <a:xfrm>
            <a:off x="7599264" y="4614635"/>
            <a:ext cx="303455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 err="1">
                <a:latin typeface="Times New Roman"/>
                <a:ea typeface="+mn-lt"/>
                <a:cs typeface="Times New Roman"/>
              </a:rPr>
              <a:t>Agendele</a:t>
            </a:r>
            <a:r>
              <a:rPr lang="en-US" sz="1200">
                <a:latin typeface="Times New Roman"/>
                <a:ea typeface="+mn-lt"/>
                <a:cs typeface="Times New Roman"/>
              </a:rPr>
              <a:t> sunt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imposibil</a:t>
            </a:r>
            <a:r>
              <a:rPr lang="en-US" sz="1200">
                <a:latin typeface="Times New Roman"/>
                <a:ea typeface="+mn-lt"/>
                <a:cs typeface="Times New Roman"/>
              </a:rPr>
              <a:t> de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verificat</a:t>
            </a:r>
            <a:r>
              <a:rPr lang="en-US" sz="1200">
                <a:latin typeface="Times New Roman"/>
                <a:ea typeface="+mn-lt"/>
                <a:cs typeface="Times New Roman"/>
              </a:rPr>
              <a:t> rapid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pentru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statistici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sau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istoric</a:t>
            </a:r>
          </a:p>
          <a:p>
            <a:pPr marL="171450" indent="-171450">
              <a:buFont typeface="Arial"/>
              <a:buChar char="•"/>
            </a:pPr>
            <a:r>
              <a:rPr lang="en-US" sz="1200" err="1">
                <a:latin typeface="Times New Roman"/>
                <a:ea typeface="+mn-lt"/>
                <a:cs typeface="Times New Roman"/>
              </a:rPr>
              <a:t>Lipsa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unei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copii</a:t>
            </a:r>
            <a:r>
              <a:rPr lang="en-US" sz="1200">
                <a:latin typeface="Times New Roman"/>
                <a:ea typeface="+mn-lt"/>
                <a:cs typeface="Times New Roman"/>
              </a:rPr>
              <a:t> de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siguranta</a:t>
            </a:r>
            <a:r>
              <a:rPr lang="en-US" sz="1200">
                <a:latin typeface="Times New Roman"/>
                <a:ea typeface="+mn-lt"/>
                <a:cs typeface="Times New Roman"/>
              </a:rPr>
              <a:t> in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caz</a:t>
            </a:r>
            <a:r>
              <a:rPr lang="en-US" sz="1200">
                <a:latin typeface="Times New Roman"/>
                <a:ea typeface="+mn-lt"/>
                <a:cs typeface="Times New Roman"/>
              </a:rPr>
              <a:t> de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pierdere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sau</a:t>
            </a:r>
            <a:r>
              <a:rPr lang="en-US" sz="1200">
                <a:latin typeface="Times New Roman"/>
                <a:ea typeface="+mn-lt"/>
                <a:cs typeface="Times New Roman"/>
              </a:rPr>
              <a:t> </a:t>
            </a:r>
            <a:r>
              <a:rPr lang="en-US" sz="1200" err="1">
                <a:latin typeface="Times New Roman"/>
                <a:ea typeface="+mn-lt"/>
                <a:cs typeface="Times New Roman"/>
              </a:rPr>
              <a:t>deteriorare</a:t>
            </a:r>
            <a:endParaRPr lang="en-US" sz="1200" err="1">
              <a:latin typeface="Times New Roman"/>
              <a:cs typeface="Times New 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254B79-3BA4-F3EA-6325-71F52862456A}"/>
              </a:ext>
            </a:extLst>
          </p:cNvPr>
          <p:cNvSpPr txBox="1"/>
          <p:nvPr/>
        </p:nvSpPr>
        <p:spPr>
          <a:xfrm>
            <a:off x="2723030" y="4034118"/>
            <a:ext cx="238685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latin typeface="Times New Roman"/>
                <a:cs typeface="Times New Roman"/>
              </a:rPr>
              <a:t>Managementul</a:t>
            </a:r>
            <a:r>
              <a:rPr lang="en-US" sz="1600">
                <a:latin typeface="Times New Roman"/>
                <a:cs typeface="Times New Roman"/>
              </a:rPr>
              <a:t> </a:t>
            </a:r>
            <a:r>
              <a:rPr lang="en-US" sz="1600" err="1">
                <a:latin typeface="Times New Roman"/>
                <a:cs typeface="Times New Roman"/>
              </a:rPr>
              <a:t>ineficient</a:t>
            </a:r>
            <a:r>
              <a:rPr lang="en-US" sz="1600">
                <a:latin typeface="Times New Roman"/>
                <a:cs typeface="Times New Roman"/>
              </a:rPr>
              <a:t> al </a:t>
            </a:r>
            <a:r>
              <a:rPr lang="en-US" sz="1600" err="1">
                <a:latin typeface="Times New Roman"/>
                <a:cs typeface="Times New Roman"/>
              </a:rPr>
              <a:t>fluxului</a:t>
            </a:r>
            <a:endParaRPr lang="en-US" sz="1600">
              <a:latin typeface="Times New Roman"/>
              <a:cs typeface="Times New Roman"/>
            </a:endParaRPr>
          </a:p>
          <a:p>
            <a:pPr algn="ctr"/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D80B27-384C-D451-767F-18519F709C97}"/>
              </a:ext>
            </a:extLst>
          </p:cNvPr>
          <p:cNvSpPr txBox="1"/>
          <p:nvPr/>
        </p:nvSpPr>
        <p:spPr>
          <a:xfrm>
            <a:off x="2039470" y="4672854"/>
            <a:ext cx="30255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Lipsa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vizibilitatii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timp</a:t>
            </a:r>
            <a:r>
              <a:rPr lang="en-US" sz="1200">
                <a:latin typeface="Times New Roman"/>
                <a:cs typeface="Times New Roman"/>
              </a:rPr>
              <a:t> real duce la </a:t>
            </a:r>
            <a:r>
              <a:rPr lang="en-US" sz="1200" err="1">
                <a:latin typeface="Times New Roman"/>
                <a:cs typeface="Times New Roman"/>
              </a:rPr>
              <a:t>formarea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cozilor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si</a:t>
            </a:r>
            <a:r>
              <a:rPr lang="en-US" sz="1200">
                <a:latin typeface="Times New Roman"/>
                <a:cs typeface="Times New Roman"/>
              </a:rPr>
              <a:t> la </a:t>
            </a:r>
            <a:r>
              <a:rPr lang="en-US" sz="1200" err="1">
                <a:latin typeface="Times New Roman"/>
                <a:cs typeface="Times New Roman"/>
              </a:rPr>
              <a:t>aglomerarea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salilor</a:t>
            </a:r>
            <a:r>
              <a:rPr lang="en-US" sz="1200">
                <a:latin typeface="Times New Roman"/>
                <a:cs typeface="Times New Roman"/>
              </a:rPr>
              <a:t> de </a:t>
            </a:r>
            <a:r>
              <a:rPr lang="en-US" sz="1200" err="1">
                <a:latin typeface="Times New Roman"/>
                <a:cs typeface="Times New Roman"/>
              </a:rPr>
              <a:t>asteptare</a:t>
            </a: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Dificultatea</a:t>
            </a:r>
            <a:r>
              <a:rPr lang="en-US" sz="1200">
                <a:latin typeface="Times New Roman"/>
                <a:cs typeface="Times New Roman"/>
              </a:rPr>
              <a:t> de a </a:t>
            </a:r>
            <a:r>
              <a:rPr lang="en-US" sz="1200" err="1">
                <a:latin typeface="Times New Roman"/>
                <a:cs typeface="Times New Roman"/>
              </a:rPr>
              <a:t>reprograma</a:t>
            </a:r>
            <a:r>
              <a:rPr lang="en-US" sz="1200">
                <a:latin typeface="Times New Roman"/>
                <a:cs typeface="Times New Roman"/>
              </a:rPr>
              <a:t> rapid </a:t>
            </a:r>
            <a:r>
              <a:rPr lang="en-US" sz="1200" err="1">
                <a:latin typeface="Times New Roman"/>
                <a:cs typeface="Times New Roman"/>
              </a:rPr>
              <a:t>pacientii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cazul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unor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urgente</a:t>
            </a:r>
          </a:p>
          <a:p>
            <a:pPr algn="ctr"/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460D87-5A16-D088-5B52-56AFF4BE1602}"/>
              </a:ext>
            </a:extLst>
          </p:cNvPr>
          <p:cNvSpPr txBox="1"/>
          <p:nvPr/>
        </p:nvSpPr>
        <p:spPr>
          <a:xfrm>
            <a:off x="2050678" y="2588559"/>
            <a:ext cx="305920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Liniile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ocupate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timpul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pierdut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apeluri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cresc</a:t>
            </a:r>
            <a:r>
              <a:rPr lang="en-US" sz="1200">
                <a:latin typeface="Times New Roman"/>
                <a:cs typeface="Times New Roman"/>
              </a:rPr>
              <a:t> rata de abandon a </a:t>
            </a:r>
            <a:r>
              <a:rPr lang="en-US" sz="1200" err="1">
                <a:latin typeface="Times New Roman"/>
                <a:cs typeface="Times New Roman"/>
              </a:rPr>
              <a:t>pacientilor</a:t>
            </a:r>
          </a:p>
          <a:p>
            <a:pPr marL="285750" indent="-285750">
              <a:buFont typeface="Arial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Erori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umane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frecvente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notarea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datelor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sau</a:t>
            </a:r>
            <a:r>
              <a:rPr lang="en-US" sz="1200">
                <a:latin typeface="Times New Roman"/>
                <a:cs typeface="Times New Roman"/>
              </a:rPr>
              <a:t> a </a:t>
            </a:r>
            <a:r>
              <a:rPr lang="en-US" sz="1200" err="1">
                <a:latin typeface="Times New Roman"/>
                <a:cs typeface="Times New Roman"/>
              </a:rPr>
              <a:t>specializarilor</a:t>
            </a:r>
            <a:endParaRPr lang="en-US" err="1"/>
          </a:p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7BF172-D6A7-A38B-9207-B6011694983A}"/>
              </a:ext>
            </a:extLst>
          </p:cNvPr>
          <p:cNvSpPr txBox="1"/>
          <p:nvPr/>
        </p:nvSpPr>
        <p:spPr>
          <a:xfrm>
            <a:off x="8282617" y="1962770"/>
            <a:ext cx="214928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latin typeface="Times New Roman"/>
                <a:ea typeface="+mn-lt"/>
                <a:cs typeface="Times New Roman"/>
              </a:rPr>
              <a:t>Asteptarile</a:t>
            </a:r>
            <a:r>
              <a:rPr lang="en-US" sz="1600"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pacientului</a:t>
            </a:r>
            <a:r>
              <a:rPr lang="en-US" sz="1600">
                <a:latin typeface="Times New Roman"/>
                <a:ea typeface="+mn-lt"/>
                <a:cs typeface="Times New Roman"/>
              </a:rPr>
              <a:t> modern: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52C245-9B69-2709-A5AC-1ECF27A34795}"/>
              </a:ext>
            </a:extLst>
          </p:cNvPr>
          <p:cNvSpPr txBox="1"/>
          <p:nvPr/>
        </p:nvSpPr>
        <p:spPr>
          <a:xfrm>
            <a:off x="7530355" y="2543735"/>
            <a:ext cx="307041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Nevoia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de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accesibilitate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24/7 (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programare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la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orice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ora, nu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doar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in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timpul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programului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receptiei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).</a:t>
            </a:r>
            <a:endParaRPr lang="en-US"/>
          </a:p>
          <a:p>
            <a:pPr marL="171450" indent="-171450" algn="l">
              <a:buFont typeface="Arial"/>
              <a:buChar char="•"/>
            </a:pP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Dorinta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de a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primi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confirmari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si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memento-</a:t>
            </a:r>
            <a:r>
              <a:rPr lang="en-US" sz="1200" b="0" i="0" err="1">
                <a:latin typeface="Times New Roman"/>
                <a:ea typeface="Google Sans Flex"/>
                <a:cs typeface="Times New Roman"/>
              </a:rPr>
              <a:t>uri</a:t>
            </a:r>
            <a:r>
              <a:rPr lang="en-US" sz="1200" b="0" i="0">
                <a:latin typeface="Times New Roman"/>
                <a:ea typeface="Google Sans Flex"/>
                <a:cs typeface="Times New Roman"/>
              </a:rPr>
              <a:t> automate.</a:t>
            </a:r>
          </a:p>
          <a:p>
            <a:pPr marL="171450" indent="-171450" algn="ctr">
              <a:buFont typeface="Arial"/>
              <a:buChar char="•"/>
            </a:pPr>
            <a:endParaRPr lang="en-US"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40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5A0376-2CDB-1D83-08D0-CFC3E19A8546}"/>
              </a:ext>
            </a:extLst>
          </p:cNvPr>
          <p:cNvSpPr txBox="1"/>
          <p:nvPr/>
        </p:nvSpPr>
        <p:spPr>
          <a:xfrm>
            <a:off x="4493559" y="481853"/>
            <a:ext cx="346261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ea typeface="+mn-lt"/>
                <a:cs typeface="Times New Roman"/>
              </a:rPr>
              <a:t>Ce </a:t>
            </a:r>
            <a:r>
              <a:rPr lang="en-US" sz="2800" b="1" err="1">
                <a:latin typeface="Times New Roman"/>
                <a:ea typeface="+mn-lt"/>
                <a:cs typeface="Times New Roman"/>
              </a:rPr>
              <a:t>rezolva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b="1" err="1">
                <a:latin typeface="Times New Roman"/>
                <a:ea typeface="+mn-lt"/>
                <a:cs typeface="Times New Roman"/>
              </a:rPr>
              <a:t>acest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 </a:t>
            </a:r>
            <a:br>
              <a:rPr lang="en-US" sz="2800" b="1">
                <a:latin typeface="Times New Roman"/>
                <a:ea typeface="+mn-lt"/>
                <a:cs typeface="Times New Roman"/>
              </a:rPr>
            </a:br>
            <a:r>
              <a:rPr lang="en-US" sz="2800" b="1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website </a:t>
            </a:r>
            <a:r>
              <a:rPr lang="en-US" sz="2800" b="1" err="1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si</a:t>
            </a:r>
            <a:r>
              <a:rPr lang="en-US" sz="2800" b="1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 pe cine</a:t>
            </a:r>
            <a:r>
              <a:rPr lang="en-US" sz="2800" b="1" i="0" u="none" strike="noStrike" baseline="0">
                <a:solidFill>
                  <a:srgbClr val="45B0E1"/>
                </a:solidFill>
                <a:latin typeface="Times New Roman"/>
                <a:ea typeface="+mn-lt"/>
                <a:cs typeface="Times New Roman"/>
              </a:rPr>
              <a:t>?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B926B-40B7-01DD-1870-5ED30B55FB10}"/>
              </a:ext>
            </a:extLst>
          </p:cNvPr>
          <p:cNvSpPr txBox="1"/>
          <p:nvPr/>
        </p:nvSpPr>
        <p:spPr>
          <a:xfrm>
            <a:off x="3483519" y="4645454"/>
            <a:ext cx="5206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Eficienta 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pentru</a:t>
            </a:r>
            <a:r>
              <a:rPr lang="en-US" b="1">
                <a:latin typeface="Times New Roman"/>
                <a:ea typeface="+mn-lt"/>
                <a:cs typeface="Times New Roman"/>
              </a:rPr>
              <a:t> 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medici</a:t>
            </a:r>
            <a:r>
              <a:rPr lang="en-US" b="1">
                <a:latin typeface="Times New Roman"/>
                <a:ea typeface="+mn-lt"/>
                <a:cs typeface="Times New Roman"/>
              </a:rPr>
              <a:t>, 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confort</a:t>
            </a:r>
            <a:r>
              <a:rPr lang="en-US" b="1">
                <a:latin typeface="Times New Roman"/>
                <a:ea typeface="+mn-lt"/>
                <a:cs typeface="Times New Roman"/>
              </a:rPr>
              <a:t> 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pentru</a:t>
            </a:r>
            <a:r>
              <a:rPr lang="en-US" b="1">
                <a:latin typeface="Times New Roman"/>
                <a:ea typeface="+mn-lt"/>
                <a:cs typeface="Times New Roman"/>
              </a:rPr>
              <a:t> </a:t>
            </a:r>
            <a:r>
              <a:rPr lang="en-US" b="1" err="1">
                <a:latin typeface="Times New Roman"/>
                <a:ea typeface="+mn-lt"/>
                <a:cs typeface="Times New Roman"/>
              </a:rPr>
              <a:t>pacienti</a:t>
            </a:r>
            <a:endParaRPr lang="en-US" b="1" err="1">
              <a:latin typeface="Times New Roman"/>
              <a:cs typeface="Times New Roman"/>
            </a:endParaRPr>
          </a:p>
        </p:txBody>
      </p:sp>
      <p:pic>
        <p:nvPicPr>
          <p:cNvPr id="9" name="Picture 8" descr="A white sky with clouds&#10;&#10;AI-generated content may be incorrect.">
            <a:extLst>
              <a:ext uri="{FF2B5EF4-FFF2-40B4-BE49-F238E27FC236}">
                <a16:creationId xmlns:a16="http://schemas.microsoft.com/office/drawing/2014/main" id="{6339F5C5-67C3-CD06-8D48-29F21191F4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510667" y="1809126"/>
            <a:ext cx="2559199" cy="23484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 descr="A white sky with clouds&#10;&#10;AI-generated content may be incorrect.">
            <a:extLst>
              <a:ext uri="{FF2B5EF4-FFF2-40B4-BE49-F238E27FC236}">
                <a16:creationId xmlns:a16="http://schemas.microsoft.com/office/drawing/2014/main" id="{E40C9BF7-0185-9D47-BAE6-E10E1C565B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4934447" y="1830002"/>
            <a:ext cx="2559199" cy="23067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 descr="A white sky with clouds&#10;&#10;AI-generated content may be incorrect.">
            <a:extLst>
              <a:ext uri="{FF2B5EF4-FFF2-40B4-BE49-F238E27FC236}">
                <a16:creationId xmlns:a16="http://schemas.microsoft.com/office/drawing/2014/main" id="{706271E6-85BB-965D-EC5D-F0B742B81E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8353008" y="1835222"/>
            <a:ext cx="2569637" cy="22858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9268C-35D8-98D1-A58E-B36A66939F60}"/>
              </a:ext>
            </a:extLst>
          </p:cNvPr>
          <p:cNvSpPr txBox="1"/>
          <p:nvPr/>
        </p:nvSpPr>
        <p:spPr>
          <a:xfrm>
            <a:off x="1953003" y="1873307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Ce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rezolva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aplicatia</a:t>
            </a:r>
            <a:r>
              <a:rPr lang="en-US" sz="1400">
                <a:latin typeface="Times New Roman"/>
                <a:ea typeface="+mn-lt"/>
                <a:cs typeface="Times New Roman"/>
              </a:rPr>
              <a:t>?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97097-6D26-885C-74DD-713EC06EE730}"/>
              </a:ext>
            </a:extLst>
          </p:cNvPr>
          <p:cNvSpPr txBox="1"/>
          <p:nvPr/>
        </p:nvSpPr>
        <p:spPr>
          <a:xfrm>
            <a:off x="5216463" y="1869496"/>
            <a:ext cx="20125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ea typeface="+mn-lt"/>
                <a:cs typeface="Times New Roman"/>
              </a:rPr>
              <a:t>Beneficii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pentru</a:t>
            </a:r>
            <a:r>
              <a:rPr lang="en-US" sz="1400">
                <a:latin typeface="Times New Roman"/>
                <a:ea typeface="+mn-lt"/>
                <a:cs typeface="Times New Roman"/>
              </a:rPr>
              <a:t> Medici: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CF10A0-E8E3-BC89-0291-3175D2A78F11}"/>
              </a:ext>
            </a:extLst>
          </p:cNvPr>
          <p:cNvSpPr txBox="1"/>
          <p:nvPr/>
        </p:nvSpPr>
        <p:spPr>
          <a:xfrm>
            <a:off x="8692003" y="1858310"/>
            <a:ext cx="2221281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ea typeface="+mn-lt"/>
                <a:cs typeface="Times New Roman"/>
              </a:rPr>
              <a:t>Beneficii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pentru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Pacienti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: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73E8A-474D-04E2-5C0C-05EC42448818}"/>
              </a:ext>
            </a:extLst>
          </p:cNvPr>
          <p:cNvSpPr txBox="1"/>
          <p:nvPr/>
        </p:nvSpPr>
        <p:spPr>
          <a:xfrm>
            <a:off x="1649260" y="2332973"/>
            <a:ext cx="217118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Timp </a:t>
            </a:r>
            <a:r>
              <a:rPr lang="en-US" sz="1200" err="1">
                <a:latin typeface="Times New Roman"/>
                <a:cs typeface="Times New Roman"/>
              </a:rPr>
              <a:t>pierdut</a:t>
            </a:r>
            <a:r>
              <a:rPr lang="en-US" sz="1200">
                <a:latin typeface="Times New Roman"/>
                <a:cs typeface="Times New Roman"/>
              </a:rPr>
              <a:t> la </a:t>
            </a:r>
            <a:r>
              <a:rPr lang="en-US" sz="1200" err="1">
                <a:latin typeface="Times New Roman"/>
                <a:cs typeface="Times New Roman"/>
              </a:rPr>
              <a:t>telefon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linii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mereu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ocupate</a:t>
            </a:r>
            <a:endParaRPr lang="en-US" sz="120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Agende</a:t>
            </a:r>
            <a:r>
              <a:rPr lang="en-US" sz="1200">
                <a:latin typeface="Times New Roman"/>
                <a:cs typeface="Times New Roman"/>
              </a:rPr>
              <a:t> pe </a:t>
            </a:r>
            <a:r>
              <a:rPr lang="en-US" sz="1200" err="1">
                <a:latin typeface="Times New Roman"/>
                <a:cs typeface="Times New Roman"/>
              </a:rPr>
              <a:t>hartie</a:t>
            </a:r>
            <a:r>
              <a:rPr lang="en-US" sz="1200">
                <a:latin typeface="Times New Roman"/>
                <a:cs typeface="Times New Roman"/>
              </a:rPr>
              <a:t> care se pot </a:t>
            </a:r>
            <a:r>
              <a:rPr lang="en-US" sz="1200" err="1">
                <a:latin typeface="Times New Roman"/>
                <a:cs typeface="Times New Roman"/>
              </a:rPr>
              <a:t>pierde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sau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deteriora</a:t>
            </a:r>
            <a:endParaRPr lang="en-US" sz="120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Cozi </a:t>
            </a:r>
            <a:r>
              <a:rPr lang="en-US" sz="1200" err="1">
                <a:latin typeface="Times New Roman"/>
                <a:cs typeface="Times New Roman"/>
              </a:rPr>
              <a:t>si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aglomeratie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salile</a:t>
            </a:r>
            <a:r>
              <a:rPr lang="en-US" sz="1200">
                <a:latin typeface="Times New Roman"/>
                <a:cs typeface="Times New Roman"/>
              </a:rPr>
              <a:t> de </a:t>
            </a:r>
            <a:r>
              <a:rPr lang="en-US" sz="1200" err="1">
                <a:latin typeface="Times New Roman"/>
                <a:cs typeface="Times New Roman"/>
              </a:rPr>
              <a:t>asteptare</a:t>
            </a:r>
            <a:endParaRPr lang="en-US" sz="120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Lipsa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accesului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pentru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programari</a:t>
            </a:r>
            <a:r>
              <a:rPr lang="en-US" sz="1200">
                <a:latin typeface="Times New Roman"/>
                <a:cs typeface="Times New Roman"/>
              </a:rPr>
              <a:t> in afara </a:t>
            </a:r>
            <a:r>
              <a:rPr lang="en-US" sz="1200" err="1">
                <a:latin typeface="Times New Roman"/>
                <a:cs typeface="Times New Roman"/>
              </a:rPr>
              <a:t>programului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clinicii</a:t>
            </a:r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AF872-3598-8B26-E210-B9E53585584B}"/>
              </a:ext>
            </a:extLst>
          </p:cNvPr>
          <p:cNvSpPr txBox="1"/>
          <p:nvPr/>
        </p:nvSpPr>
        <p:spPr>
          <a:xfrm>
            <a:off x="5083478" y="2332973"/>
            <a:ext cx="231731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Organizare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mai</a:t>
            </a:r>
            <a:r>
              <a:rPr lang="en-US" sz="1200">
                <a:latin typeface="Times New Roman"/>
                <a:cs typeface="Times New Roman"/>
              </a:rPr>
              <a:t> buna a </a:t>
            </a:r>
            <a:r>
              <a:rPr lang="en-US" sz="1200" err="1">
                <a:latin typeface="Times New Roman"/>
                <a:cs typeface="Times New Roman"/>
              </a:rPr>
              <a:t>timpului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si</a:t>
            </a:r>
            <a:r>
              <a:rPr lang="en-US" sz="1200">
                <a:latin typeface="Times New Roman"/>
                <a:cs typeface="Times New Roman"/>
              </a:rPr>
              <a:t> a </a:t>
            </a:r>
            <a:r>
              <a:rPr lang="en-US" sz="1200" err="1">
                <a:latin typeface="Times New Roman"/>
                <a:cs typeface="Times New Roman"/>
              </a:rPr>
              <a:t>consultatiilor</a:t>
            </a:r>
            <a:endParaRPr lang="en-US" sz="120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Vizualizarea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rapida</a:t>
            </a:r>
            <a:r>
              <a:rPr lang="en-US" sz="1200">
                <a:latin typeface="Times New Roman"/>
                <a:cs typeface="Times New Roman"/>
              </a:rPr>
              <a:t> a </a:t>
            </a:r>
            <a:r>
              <a:rPr lang="en-US" sz="1200" err="1">
                <a:latin typeface="Times New Roman"/>
                <a:cs typeface="Times New Roman"/>
              </a:rPr>
              <a:t>calendarului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saptamanal</a:t>
            </a:r>
            <a:endParaRPr lang="en-US" sz="120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Reducerea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timpului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petrecut</a:t>
            </a:r>
            <a:r>
              <a:rPr lang="en-US" sz="1200">
                <a:latin typeface="Times New Roman"/>
                <a:cs typeface="Times New Roman"/>
              </a:rPr>
              <a:t> cu </a:t>
            </a:r>
            <a:r>
              <a:rPr lang="en-US" sz="1200" err="1">
                <a:latin typeface="Times New Roman"/>
                <a:cs typeface="Times New Roman"/>
              </a:rPr>
              <a:t>birocratia</a:t>
            </a:r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2365-C493-A9B2-A445-340DFEABC908}"/>
              </a:ext>
            </a:extLst>
          </p:cNvPr>
          <p:cNvSpPr txBox="1"/>
          <p:nvPr/>
        </p:nvSpPr>
        <p:spPr>
          <a:xfrm>
            <a:off x="8580328" y="2332973"/>
            <a:ext cx="212942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Programare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rapida</a:t>
            </a:r>
            <a:r>
              <a:rPr lang="en-US" sz="1200">
                <a:latin typeface="Times New Roman"/>
                <a:cs typeface="Times New Roman"/>
              </a:rPr>
              <a:t> direct de pe </a:t>
            </a:r>
            <a:r>
              <a:rPr lang="en-US" sz="1200" err="1">
                <a:latin typeface="Times New Roman"/>
                <a:cs typeface="Times New Roman"/>
              </a:rPr>
              <a:t>telefon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sau</a:t>
            </a:r>
            <a:r>
              <a:rPr lang="en-US" sz="1200">
                <a:latin typeface="Times New Roman"/>
                <a:cs typeface="Times New Roman"/>
              </a:rPr>
              <a:t> PC</a:t>
            </a:r>
          </a:p>
          <a:p>
            <a:pPr marL="228600" indent="-228600">
              <a:buFont typeface=""/>
              <a:buChar char="•"/>
            </a:pPr>
            <a:r>
              <a:rPr lang="en-US" sz="1200" err="1">
                <a:latin typeface="Times New Roman"/>
                <a:cs typeface="Times New Roman"/>
              </a:rPr>
              <a:t>Vizualizarea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sloturilor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err="1">
                <a:latin typeface="Times New Roman"/>
                <a:cs typeface="Times New Roman"/>
              </a:rPr>
              <a:t>libere</a:t>
            </a:r>
            <a:r>
              <a:rPr lang="en-US" sz="1200">
                <a:latin typeface="Times New Roman"/>
                <a:cs typeface="Times New Roman"/>
              </a:rPr>
              <a:t> in </a:t>
            </a:r>
            <a:r>
              <a:rPr lang="en-US" sz="1200" err="1">
                <a:latin typeface="Times New Roman"/>
                <a:cs typeface="Times New Roman"/>
              </a:rPr>
              <a:t>timp</a:t>
            </a:r>
            <a:r>
              <a:rPr lang="en-US" sz="1200">
                <a:latin typeface="Times New Roman"/>
                <a:cs typeface="Times New Roman"/>
              </a:rPr>
              <a:t> real</a:t>
            </a:r>
          </a:p>
          <a:p>
            <a:pPr marL="228600" indent="-228600">
              <a:buFont typeface=""/>
              <a:buChar char="•"/>
            </a:pPr>
            <a:r>
              <a:rPr lang="en-US" sz="1200">
                <a:latin typeface="Times New Roman"/>
                <a:cs typeface="Times New Roman"/>
              </a:rPr>
              <a:t>Memento-</a:t>
            </a:r>
            <a:r>
              <a:rPr lang="en-US" sz="1200" err="1">
                <a:latin typeface="Times New Roman"/>
                <a:cs typeface="Times New Roman"/>
              </a:rPr>
              <a:t>uri</a:t>
            </a:r>
            <a:r>
              <a:rPr lang="en-US" sz="1200">
                <a:latin typeface="Times New Roman"/>
                <a:cs typeface="Times New Roman"/>
              </a:rPr>
              <a:t> automate </a:t>
            </a:r>
            <a:r>
              <a:rPr lang="en-US" sz="1200" err="1">
                <a:latin typeface="Times New Roman"/>
                <a:cs typeface="Times New Roman"/>
              </a:rPr>
              <a:t>pentru</a:t>
            </a:r>
            <a:r>
              <a:rPr lang="en-US" sz="1200">
                <a:latin typeface="Times New Roman"/>
                <a:cs typeface="Times New Roman"/>
              </a:rPr>
              <a:t> a nu </a:t>
            </a:r>
            <a:r>
              <a:rPr lang="en-US" sz="1200" err="1">
                <a:latin typeface="Times New Roman"/>
                <a:cs typeface="Times New Roman"/>
              </a:rPr>
              <a:t>uita</a:t>
            </a:r>
            <a:r>
              <a:rPr lang="en-US" sz="1200">
                <a:latin typeface="Times New Roman"/>
                <a:cs typeface="Times New Roman"/>
              </a:rPr>
              <a:t> de </a:t>
            </a:r>
            <a:r>
              <a:rPr lang="en-US" sz="1200" err="1">
                <a:latin typeface="Times New Roman"/>
                <a:cs typeface="Times New Roman"/>
              </a:rPr>
              <a:t>consultatie</a:t>
            </a:r>
            <a:endParaRPr lang="en-US" sz="1200">
              <a:latin typeface="Times New Roman"/>
              <a:cs typeface="Times New Roman"/>
            </a:endParaRPr>
          </a:p>
          <a:p>
            <a:pPr algn="ctr"/>
            <a:endParaRPr lang="en-US"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28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42EE60-71C0-34AA-5BB2-B69078374603}"/>
              </a:ext>
            </a:extLst>
          </p:cNvPr>
          <p:cNvSpPr txBox="1"/>
          <p:nvPr/>
        </p:nvSpPr>
        <p:spPr>
          <a:xfrm>
            <a:off x="4025159" y="314568"/>
            <a:ext cx="33950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latin typeface="Times New Roman"/>
                <a:ea typeface="+mn-lt"/>
                <a:cs typeface="Times New Roman"/>
              </a:rPr>
              <a:t>Tehnologii</a:t>
            </a:r>
            <a:r>
              <a:rPr lang="en-US" sz="32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3200" b="1" dirty="0" err="1">
                <a:latin typeface="Times New Roman"/>
                <a:ea typeface="+mn-lt"/>
                <a:cs typeface="Times New Roman"/>
              </a:rPr>
              <a:t>folosite</a:t>
            </a:r>
            <a:endParaRPr lang="en-US" sz="3200" b="1" dirty="0" err="1">
              <a:latin typeface="Times New Roman"/>
              <a:cs typeface="Times New Roman"/>
            </a:endParaRPr>
          </a:p>
        </p:txBody>
      </p:sp>
      <p:pic>
        <p:nvPicPr>
          <p:cNvPr id="3" name="Picture 2" descr="A white sky with clouds&#10;&#10;AI-generated content may be incorrect.">
            <a:extLst>
              <a:ext uri="{FF2B5EF4-FFF2-40B4-BE49-F238E27FC236}">
                <a16:creationId xmlns:a16="http://schemas.microsoft.com/office/drawing/2014/main" id="{A08B79B1-3F07-0246-FD3A-7C4A25FFB9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592594" y="2984259"/>
            <a:ext cx="2559199" cy="2348499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white sky with clouds&#10;&#10;AI-generated content may be incorrect.">
            <a:extLst>
              <a:ext uri="{FF2B5EF4-FFF2-40B4-BE49-F238E27FC236}">
                <a16:creationId xmlns:a16="http://schemas.microsoft.com/office/drawing/2014/main" id="{CF31368D-B537-1650-5ED4-DFCA35F2A5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30304" y="3076065"/>
            <a:ext cx="2559199" cy="23484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 descr="A white sky with clouds&#10;&#10;AI-generated content may be incorrect.">
            <a:extLst>
              <a:ext uri="{FF2B5EF4-FFF2-40B4-BE49-F238E27FC236}">
                <a16:creationId xmlns:a16="http://schemas.microsoft.com/office/drawing/2014/main" id="{5F75DDB8-20D4-1D27-17A5-219D7410CB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4448497" y="1175655"/>
            <a:ext cx="2559199" cy="23484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 descr="A white sky with clouds&#10;&#10;AI-generated content may be incorrect.">
            <a:extLst>
              <a:ext uri="{FF2B5EF4-FFF2-40B4-BE49-F238E27FC236}">
                <a16:creationId xmlns:a16="http://schemas.microsoft.com/office/drawing/2014/main" id="{AEC7CE8F-07C6-75F6-EA00-F04FF940A8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8129965" y="3076064"/>
            <a:ext cx="2559199" cy="23484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5747AD-3F86-2432-2EFB-8A3BA576FFD7}"/>
              </a:ext>
            </a:extLst>
          </p:cNvPr>
          <p:cNvSpPr txBox="1"/>
          <p:nvPr/>
        </p:nvSpPr>
        <p:spPr>
          <a:xfrm>
            <a:off x="1449588" y="2955710"/>
            <a:ext cx="11182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Backend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944FF-FAD1-28E0-42A7-32E1A452C45C}"/>
              </a:ext>
            </a:extLst>
          </p:cNvPr>
          <p:cNvSpPr txBox="1"/>
          <p:nvPr/>
        </p:nvSpPr>
        <p:spPr>
          <a:xfrm>
            <a:off x="5167660" y="1077285"/>
            <a:ext cx="11182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Frontend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3FB57-8B5F-EF0D-C151-5F93C62CB14A}"/>
              </a:ext>
            </a:extLst>
          </p:cNvPr>
          <p:cNvSpPr txBox="1"/>
          <p:nvPr/>
        </p:nvSpPr>
        <p:spPr>
          <a:xfrm>
            <a:off x="8621906" y="2953413"/>
            <a:ext cx="15680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Baze de 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8CC77D-FA38-A8CC-1737-39FA76ADF3A1}"/>
              </a:ext>
            </a:extLst>
          </p:cNvPr>
          <p:cNvSpPr txBox="1"/>
          <p:nvPr/>
        </p:nvSpPr>
        <p:spPr>
          <a:xfrm>
            <a:off x="992242" y="3425738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Python, </a:t>
            </a:r>
            <a:endParaRPr lang="en-US" dirty="0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FastAPI</a:t>
            </a:r>
            <a:r>
              <a:rPr lang="en-US" dirty="0">
                <a:ea typeface="+mn-lt"/>
                <a:cs typeface="+mn-lt"/>
              </a:rPr>
              <a:t>,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SQLAlchemy</a:t>
            </a:r>
            <a:endParaRPr lang="en-US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71B54-7BA6-6F01-BCEB-8CC8F5658B22}"/>
              </a:ext>
            </a:extLst>
          </p:cNvPr>
          <p:cNvSpPr txBox="1"/>
          <p:nvPr/>
        </p:nvSpPr>
        <p:spPr>
          <a:xfrm>
            <a:off x="4727106" y="1618465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Svelte,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HTML,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CSS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C35C7-BB5B-EF33-117B-460E36697F37}"/>
              </a:ext>
            </a:extLst>
          </p:cNvPr>
          <p:cNvSpPr txBox="1"/>
          <p:nvPr/>
        </p:nvSpPr>
        <p:spPr>
          <a:xfrm>
            <a:off x="8361705" y="342598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PostgreSQL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0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07E3-90AC-69F4-D997-4D49D2C5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176" y="475294"/>
            <a:ext cx="5539648" cy="1353105"/>
          </a:xfrm>
        </p:spPr>
        <p:txBody>
          <a:bodyPr/>
          <a:lstStyle/>
          <a:p>
            <a:r>
              <a:rPr lang="en-US" sz="3600" b="1" dirty="0" err="1">
                <a:latin typeface="Times New Roman"/>
                <a:cs typeface="Times New Roman"/>
              </a:rPr>
              <a:t>Arhitectura</a:t>
            </a:r>
            <a:r>
              <a:rPr lang="en-US" sz="3600" b="1" dirty="0">
                <a:latin typeface="Times New Roman"/>
                <a:cs typeface="Times New Roman"/>
              </a:rPr>
              <a:t> </a:t>
            </a:r>
            <a:r>
              <a:rPr lang="en-US" sz="3600" b="1" dirty="0" err="1">
                <a:latin typeface="Times New Roman"/>
                <a:cs typeface="Times New Roman"/>
              </a:rPr>
              <a:t>sistemului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F77F01-9EA7-C79B-5F5E-85B59FA92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181" y="2381658"/>
            <a:ext cx="2741787" cy="4008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51852F8-AB50-5603-3F98-1304D78B3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47" y="2378902"/>
            <a:ext cx="2392780" cy="3994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29DC6E-AE02-ACDB-412C-4811E5BD8F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11" t="19136" r="61312" b="309"/>
          <a:stretch>
            <a:fillRect/>
          </a:stretch>
        </p:blipFill>
        <p:spPr>
          <a:xfrm>
            <a:off x="8860484" y="691421"/>
            <a:ext cx="2258173" cy="5700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EBB572-B3C8-DBC3-93B7-034FA2F4CD8B}"/>
              </a:ext>
            </a:extLst>
          </p:cNvPr>
          <p:cNvSpPr txBox="1"/>
          <p:nvPr/>
        </p:nvSpPr>
        <p:spPr>
          <a:xfrm>
            <a:off x="1173079" y="1965157"/>
            <a:ext cx="21516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E18A4-2AF3-7C8D-4B9B-1A6B229BB82D}"/>
              </a:ext>
            </a:extLst>
          </p:cNvPr>
          <p:cNvSpPr txBox="1"/>
          <p:nvPr/>
        </p:nvSpPr>
        <p:spPr>
          <a:xfrm>
            <a:off x="5023184" y="1965158"/>
            <a:ext cx="24464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</a:rPr>
              <a:t>FRONTEND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4B462-BD46-A813-F423-B4BB480FC938}"/>
              </a:ext>
            </a:extLst>
          </p:cNvPr>
          <p:cNvSpPr txBox="1"/>
          <p:nvPr/>
        </p:nvSpPr>
        <p:spPr>
          <a:xfrm>
            <a:off x="9093868" y="210553"/>
            <a:ext cx="1784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46B1E1"/>
                </a:solidFill>
                <a:latin typeface="Times New Roman"/>
              </a:rPr>
              <a:t>FASTAPI</a:t>
            </a:r>
            <a:endParaRPr lang="en-US" sz="2800" b="1">
              <a:solidFill>
                <a:srgbClr val="46B1E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431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sky with clouds&#10;&#10;AI-generated content may be incorrect.">
            <a:extLst>
              <a:ext uri="{FF2B5EF4-FFF2-40B4-BE49-F238E27FC236}">
                <a16:creationId xmlns:a16="http://schemas.microsoft.com/office/drawing/2014/main" id="{D1162466-B8C7-8A6E-37B1-61007A2371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4239514" y="-733935"/>
            <a:ext cx="4394014" cy="891573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BF0004-0FDD-B67C-4932-41BDB53E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661" y="264862"/>
            <a:ext cx="6283286" cy="1353105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Baze de Date – models.py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1EF23-F425-C38C-9D5E-182FD14A805D}"/>
              </a:ext>
            </a:extLst>
          </p:cNvPr>
          <p:cNvSpPr txBox="1"/>
          <p:nvPr/>
        </p:nvSpPr>
        <p:spPr>
          <a:xfrm>
            <a:off x="2526632" y="1723050"/>
            <a:ext cx="221504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PACIENTI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nume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cnp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phone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nastere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C8DA8-22BA-A387-01B4-9FFA3989EB47}"/>
              </a:ext>
            </a:extLst>
          </p:cNvPr>
          <p:cNvSpPr txBox="1"/>
          <p:nvPr/>
        </p:nvSpPr>
        <p:spPr>
          <a:xfrm>
            <a:off x="5402885" y="1718095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SLOTURI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date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start_time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duration_min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32B3B-A2EF-D60D-CB41-343950219134}"/>
              </a:ext>
            </a:extLst>
          </p:cNvPr>
          <p:cNvSpPr txBox="1"/>
          <p:nvPr/>
        </p:nvSpPr>
        <p:spPr>
          <a:xfrm>
            <a:off x="8452789" y="1718095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LISTA_ASTEPTARE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pacienti_id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data_preferata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3125F-BF8F-C494-C14E-2590E8D2F70E}"/>
              </a:ext>
            </a:extLst>
          </p:cNvPr>
          <p:cNvSpPr txBox="1"/>
          <p:nvPr/>
        </p:nvSpPr>
        <p:spPr>
          <a:xfrm>
            <a:off x="8455272" y="4023118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CONTURI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email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parola_hash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rol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pacient_id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FD637-5460-3608-24F3-04CA40A14304}"/>
              </a:ext>
            </a:extLst>
          </p:cNvPr>
          <p:cNvSpPr txBox="1"/>
          <p:nvPr/>
        </p:nvSpPr>
        <p:spPr>
          <a:xfrm>
            <a:off x="2528358" y="4025074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PROGRAMARI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pacienti_id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slot_id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type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stare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ECA2D-0E73-4DAC-D2F7-E242A4559BD5}"/>
              </a:ext>
            </a:extLst>
          </p:cNvPr>
          <p:cNvSpPr txBox="1"/>
          <p:nvPr/>
        </p:nvSpPr>
        <p:spPr>
          <a:xfrm>
            <a:off x="5408364" y="4028972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NOTIFICARI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programari_id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send_at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275601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0CC28-C567-A4FE-AD9A-C78262C8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3" y="4178"/>
            <a:ext cx="7327232" cy="1345615"/>
          </a:xfrm>
        </p:spPr>
        <p:txBody>
          <a:bodyPr/>
          <a:lstStyle/>
          <a:p>
            <a:r>
              <a:rPr lang="en-US" sz="3600" b="1" dirty="0" err="1">
                <a:latin typeface="Times New Roman"/>
                <a:ea typeface="+mj-lt"/>
                <a:cs typeface="Times New Roman"/>
              </a:rPr>
              <a:t>Portalul</a:t>
            </a:r>
            <a:r>
              <a:rPr lang="en-US" sz="3600" b="1" dirty="0">
                <a:latin typeface="Times New Roman"/>
                <a:ea typeface="+mj-lt"/>
                <a:cs typeface="Times New Roman"/>
              </a:rPr>
              <a:t> </a:t>
            </a:r>
            <a:r>
              <a:rPr lang="en-US" sz="3600" b="1" dirty="0" err="1">
                <a:latin typeface="Times New Roman"/>
                <a:ea typeface="+mj-lt"/>
                <a:cs typeface="Times New Roman"/>
              </a:rPr>
              <a:t>medicului</a:t>
            </a:r>
            <a:r>
              <a:rPr lang="en-US" sz="3600" b="1" dirty="0">
                <a:latin typeface="Times New Roman"/>
                <a:ea typeface="+mj-lt"/>
                <a:cs typeface="Times New Roman"/>
              </a:rPr>
              <a:t> - Dashboard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EC14AAA0-04D3-917A-CDFD-D55B0E75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3" r="1152" b="-153"/>
          <a:stretch>
            <a:fillRect/>
          </a:stretch>
        </p:blipFill>
        <p:spPr>
          <a:xfrm>
            <a:off x="2045368" y="1442955"/>
            <a:ext cx="9374498" cy="4690673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2AB5054C-5034-130F-2243-022D7308990B}"/>
              </a:ext>
            </a:extLst>
          </p:cNvPr>
          <p:cNvSpPr txBox="1"/>
          <p:nvPr/>
        </p:nvSpPr>
        <p:spPr>
          <a:xfrm rot="20880000">
            <a:off x="2751924" y="5773536"/>
            <a:ext cx="17305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latin typeface="Times New Roman"/>
                <a:cs typeface="Times New Roman"/>
              </a:rPr>
              <a:t>CALENDARUL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C743ADB-73D6-BD84-D51C-BFF4889DACC0}"/>
              </a:ext>
            </a:extLst>
          </p:cNvPr>
          <p:cNvSpPr txBox="1"/>
          <p:nvPr/>
        </p:nvSpPr>
        <p:spPr>
          <a:xfrm>
            <a:off x="280736" y="3669631"/>
            <a:ext cx="19009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PROGRAMARILE VIITOARE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EE12D7F-B7D4-7E14-8127-DF7CE3F06671}"/>
              </a:ext>
            </a:extLst>
          </p:cNvPr>
          <p:cNvSpPr txBox="1"/>
          <p:nvPr/>
        </p:nvSpPr>
        <p:spPr>
          <a:xfrm>
            <a:off x="150394" y="2666998"/>
            <a:ext cx="27331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Times New Roman"/>
                <a:cs typeface="Times New Roman"/>
              </a:rPr>
              <a:t>PROGRAMARILE</a:t>
            </a:r>
            <a:br>
              <a:rPr lang="en-US" sz="1400" b="1" dirty="0">
                <a:latin typeface="Times New Roman"/>
                <a:cs typeface="Times New Roman"/>
              </a:rPr>
            </a:br>
            <a:r>
              <a:rPr lang="en-US" sz="1400" b="1">
                <a:latin typeface="Times New Roman"/>
                <a:cs typeface="Times New Roman"/>
              </a:rPr>
              <a:t>DIN ZIUA CURENTA</a:t>
            </a:r>
          </a:p>
        </p:txBody>
      </p:sp>
      <p:sp>
        <p:nvSpPr>
          <p:cNvPr id="667" name="TextBox 666">
            <a:extLst>
              <a:ext uri="{FF2B5EF4-FFF2-40B4-BE49-F238E27FC236}">
                <a16:creationId xmlns:a16="http://schemas.microsoft.com/office/drawing/2014/main" id="{0E69A08B-3983-5289-C9BA-F8D0EA912A0B}"/>
              </a:ext>
            </a:extLst>
          </p:cNvPr>
          <p:cNvSpPr txBox="1"/>
          <p:nvPr/>
        </p:nvSpPr>
        <p:spPr>
          <a:xfrm>
            <a:off x="9135543" y="2474325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BUTON CREARE PROGRAMARE NOUA</a:t>
            </a:r>
            <a:endParaRPr lang="en-US" sz="1400" b="1" dirty="0">
              <a:latin typeface="Times New Roman"/>
              <a:cs typeface="Times New Roman"/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6D4EC306-C717-79AD-7FB6-1062C8B9030B}"/>
              </a:ext>
            </a:extLst>
          </p:cNvPr>
          <p:cNvSpPr txBox="1"/>
          <p:nvPr/>
        </p:nvSpPr>
        <p:spPr>
          <a:xfrm>
            <a:off x="7147555" y="415548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BUTON ADAUGARE PACINET NOU CARE NU ESTE IN DB</a:t>
            </a:r>
          </a:p>
        </p:txBody>
      </p:sp>
      <p:cxnSp>
        <p:nvCxnSpPr>
          <p:cNvPr id="861" name="Connector: Curved 860">
            <a:extLst>
              <a:ext uri="{FF2B5EF4-FFF2-40B4-BE49-F238E27FC236}">
                <a16:creationId xmlns:a16="http://schemas.microsoft.com/office/drawing/2014/main" id="{587D567D-62F0-5F77-210A-8B8D432762D5}"/>
              </a:ext>
            </a:extLst>
          </p:cNvPr>
          <p:cNvCxnSpPr/>
          <p:nvPr/>
        </p:nvCxnSpPr>
        <p:spPr>
          <a:xfrm>
            <a:off x="7810500" y="1002631"/>
            <a:ext cx="140368" cy="8021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Arrow Connector 868">
            <a:extLst>
              <a:ext uri="{FF2B5EF4-FFF2-40B4-BE49-F238E27FC236}">
                <a16:creationId xmlns:a16="http://schemas.microsoft.com/office/drawing/2014/main" id="{076EDD2B-7307-6F0C-539F-1395522BA18D}"/>
              </a:ext>
            </a:extLst>
          </p:cNvPr>
          <p:cNvCxnSpPr/>
          <p:nvPr/>
        </p:nvCxnSpPr>
        <p:spPr>
          <a:xfrm>
            <a:off x="9214184" y="1995236"/>
            <a:ext cx="651710" cy="4912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Arrow Connector 869">
            <a:extLst>
              <a:ext uri="{FF2B5EF4-FFF2-40B4-BE49-F238E27FC236}">
                <a16:creationId xmlns:a16="http://schemas.microsoft.com/office/drawing/2014/main" id="{FD0B877C-2EE3-6D27-3F44-D44C30ABA5CC}"/>
              </a:ext>
            </a:extLst>
          </p:cNvPr>
          <p:cNvCxnSpPr/>
          <p:nvPr/>
        </p:nvCxnSpPr>
        <p:spPr>
          <a:xfrm flipH="1">
            <a:off x="4235212" y="5070055"/>
            <a:ext cx="817084" cy="7325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: Curved 870">
            <a:extLst>
              <a:ext uri="{FF2B5EF4-FFF2-40B4-BE49-F238E27FC236}">
                <a16:creationId xmlns:a16="http://schemas.microsoft.com/office/drawing/2014/main" id="{2EA358C3-AED1-393E-EAAF-A70BBDE38EDB}"/>
              </a:ext>
            </a:extLst>
          </p:cNvPr>
          <p:cNvCxnSpPr/>
          <p:nvPr/>
        </p:nvCxnSpPr>
        <p:spPr>
          <a:xfrm flipH="1">
            <a:off x="1839889" y="3260244"/>
            <a:ext cx="875186" cy="674419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: Curved 871">
            <a:extLst>
              <a:ext uri="{FF2B5EF4-FFF2-40B4-BE49-F238E27FC236}">
                <a16:creationId xmlns:a16="http://schemas.microsoft.com/office/drawing/2014/main" id="{5291D485-89DC-7EFF-809D-1125CB565CE7}"/>
              </a:ext>
            </a:extLst>
          </p:cNvPr>
          <p:cNvCxnSpPr/>
          <p:nvPr/>
        </p:nvCxnSpPr>
        <p:spPr>
          <a:xfrm flipH="1">
            <a:off x="1840856" y="2332870"/>
            <a:ext cx="767677" cy="52632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3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17DC-6757-7F2A-9594-BB4F83D2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47" y="4178"/>
            <a:ext cx="10515600" cy="1325563"/>
          </a:xfrm>
        </p:spPr>
        <p:txBody>
          <a:bodyPr/>
          <a:lstStyle/>
          <a:p>
            <a:r>
              <a:rPr lang="en-US" sz="3600" b="1" dirty="0" err="1">
                <a:latin typeface="Times New Roman"/>
                <a:ea typeface="+mj-lt"/>
                <a:cs typeface="Times New Roman"/>
              </a:rPr>
              <a:t>Portalul</a:t>
            </a:r>
            <a:r>
              <a:rPr lang="en-US" sz="3600" b="1" dirty="0">
                <a:latin typeface="Times New Roman"/>
                <a:ea typeface="+mj-lt"/>
                <a:cs typeface="Times New Roman"/>
              </a:rPr>
              <a:t> </a:t>
            </a:r>
            <a:r>
              <a:rPr lang="en-US" sz="3600" b="1" dirty="0" err="1">
                <a:latin typeface="Times New Roman"/>
                <a:ea typeface="+mj-lt"/>
                <a:cs typeface="Times New Roman"/>
              </a:rPr>
              <a:t>pacientului</a:t>
            </a:r>
            <a:endParaRPr lang="en-US" sz="3600" dirty="0" err="1">
              <a:latin typeface="Times New Roman"/>
              <a:cs typeface="Times New Roman"/>
            </a:endParaRPr>
          </a:p>
        </p:txBody>
      </p:sp>
      <p:pic>
        <p:nvPicPr>
          <p:cNvPr id="5" name="Picture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DBAD716B-FBFA-1052-D06D-01DBA315D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" t="7613" r="576" b="153"/>
          <a:stretch>
            <a:fillRect/>
          </a:stretch>
        </p:blipFill>
        <p:spPr>
          <a:xfrm>
            <a:off x="1153026" y="1222375"/>
            <a:ext cx="9885856" cy="4951372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8C5F6D4D-0BE2-B629-4065-5EF303AE0E9F}"/>
              </a:ext>
            </a:extLst>
          </p:cNvPr>
          <p:cNvCxnSpPr/>
          <p:nvPr/>
        </p:nvCxnSpPr>
        <p:spPr>
          <a:xfrm>
            <a:off x="8893342" y="3148262"/>
            <a:ext cx="491290" cy="1253289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FAB7A7A7-4857-3220-8D3B-557E1AFEA3FC}"/>
              </a:ext>
            </a:extLst>
          </p:cNvPr>
          <p:cNvCxnSpPr/>
          <p:nvPr/>
        </p:nvCxnSpPr>
        <p:spPr>
          <a:xfrm flipH="1">
            <a:off x="1844841" y="2757236"/>
            <a:ext cx="1193132" cy="112294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F159B67-E493-0BC8-8AA2-5DD717BB3023}"/>
              </a:ext>
            </a:extLst>
          </p:cNvPr>
          <p:cNvCxnSpPr/>
          <p:nvPr/>
        </p:nvCxnSpPr>
        <p:spPr>
          <a:xfrm flipV="1">
            <a:off x="3479132" y="5494421"/>
            <a:ext cx="1644315" cy="25065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D7C628-338E-1FCB-366B-A95D3801A6DC}"/>
              </a:ext>
            </a:extLst>
          </p:cNvPr>
          <p:cNvSpPr txBox="1"/>
          <p:nvPr/>
        </p:nvSpPr>
        <p:spPr>
          <a:xfrm>
            <a:off x="471236" y="350921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PROGRAMARILE </a:t>
            </a:r>
            <a:br>
              <a:rPr lang="en-US" sz="1400" b="1" dirty="0">
                <a:latin typeface="Times New Roman"/>
                <a:cs typeface="Times New Roman"/>
              </a:rPr>
            </a:br>
            <a:r>
              <a:rPr lang="en-US" sz="1400" b="1">
                <a:latin typeface="Times New Roman"/>
                <a:cs typeface="Times New Roman"/>
              </a:rPr>
              <a:t>FACUTE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D36A3-07DF-5C32-A430-65B043C2E61B}"/>
              </a:ext>
            </a:extLst>
          </p:cNvPr>
          <p:cNvSpPr txBox="1"/>
          <p:nvPr/>
        </p:nvSpPr>
        <p:spPr>
          <a:xfrm>
            <a:off x="2175709" y="536407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ORELE DISPONIBILE</a:t>
            </a:r>
            <a:br>
              <a:rPr lang="en-US" sz="1400" b="1" dirty="0">
                <a:latin typeface="Times New Roman"/>
                <a:cs typeface="Times New Roman"/>
              </a:rPr>
            </a:br>
            <a:r>
              <a:rPr lang="en-US" sz="1400" b="1">
                <a:latin typeface="Times New Roman"/>
                <a:cs typeface="Times New Roman"/>
              </a:rPr>
              <a:t>DIN DATA DE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269A5-DCCB-4D45-4BEA-DC0B9BD5CD5B}"/>
              </a:ext>
            </a:extLst>
          </p:cNvPr>
          <p:cNvSpPr txBox="1"/>
          <p:nvPr/>
        </p:nvSpPr>
        <p:spPr>
          <a:xfrm>
            <a:off x="9384631" y="4140867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CALENDARUL DE PROGRAMARE</a:t>
            </a:r>
          </a:p>
        </p:txBody>
      </p:sp>
    </p:spTree>
    <p:extLst>
      <p:ext uri="{BB962C8B-B14F-4D97-AF65-F5344CB8AC3E}">
        <p14:creationId xmlns:p14="http://schemas.microsoft.com/office/powerpoint/2010/main" val="416515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75AB-89D7-2278-B386-16A50BA2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11" y="4178"/>
            <a:ext cx="10515600" cy="1325563"/>
          </a:xfrm>
        </p:spPr>
        <p:txBody>
          <a:bodyPr/>
          <a:lstStyle/>
          <a:p>
            <a:r>
              <a:rPr lang="en-US" sz="3600" b="1" dirty="0" err="1">
                <a:latin typeface="Times New Roman"/>
                <a:cs typeface="Times New Roman"/>
              </a:rPr>
              <a:t>Fluxul</a:t>
            </a:r>
            <a:r>
              <a:rPr lang="en-US" sz="3600" b="1" dirty="0">
                <a:latin typeface="Times New Roman"/>
                <a:cs typeface="Times New Roman"/>
              </a:rPr>
              <a:t> </a:t>
            </a:r>
            <a:r>
              <a:rPr lang="en-US" sz="3600" b="1" dirty="0" err="1">
                <a:latin typeface="Times New Roman"/>
                <a:cs typeface="Times New Roman"/>
              </a:rPr>
              <a:t>complet</a:t>
            </a:r>
            <a:r>
              <a:rPr lang="en-US" sz="3600" b="1" dirty="0">
                <a:latin typeface="Times New Roman"/>
                <a:cs typeface="Times New Roman"/>
              </a:rPr>
              <a:t> de </a:t>
            </a:r>
            <a:r>
              <a:rPr lang="en-US" sz="3600" b="1" dirty="0" err="1">
                <a:latin typeface="Times New Roman"/>
                <a:cs typeface="Times New Roman"/>
              </a:rPr>
              <a:t>programare</a:t>
            </a:r>
            <a:r>
              <a:rPr lang="en-US" sz="3600" b="1" dirty="0">
                <a:latin typeface="Times New Roman"/>
                <a:cs typeface="Times New Roman"/>
              </a:rPr>
              <a:t> a </a:t>
            </a:r>
            <a:r>
              <a:rPr lang="en-US" sz="3600" b="1" dirty="0" err="1">
                <a:latin typeface="Times New Roman"/>
                <a:cs typeface="Times New Roman"/>
              </a:rPr>
              <a:t>unui</a:t>
            </a:r>
            <a:r>
              <a:rPr lang="en-US" sz="3600" b="1" dirty="0">
                <a:latin typeface="Times New Roman"/>
                <a:cs typeface="Times New Roman"/>
              </a:rPr>
              <a:t> </a:t>
            </a:r>
            <a:r>
              <a:rPr lang="en-US" sz="3600" b="1" dirty="0" err="1">
                <a:latin typeface="Times New Roman"/>
                <a:cs typeface="Times New Roman"/>
              </a:rPr>
              <a:t>pacient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40820-AD09-75E4-665D-18E576E7FC6E}"/>
              </a:ext>
            </a:extLst>
          </p:cNvPr>
          <p:cNvSpPr txBox="1"/>
          <p:nvPr/>
        </p:nvSpPr>
        <p:spPr>
          <a:xfrm>
            <a:off x="843103" y="2399544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LOGIN</a:t>
            </a:r>
            <a:br>
              <a:rPr lang="en-US" dirty="0"/>
            </a:br>
            <a:r>
              <a:rPr lang="en-US" dirty="0"/>
              <a:t>POST/</a:t>
            </a:r>
            <a:r>
              <a:rPr lang="en-US" dirty="0" err="1"/>
              <a:t>api</a:t>
            </a:r>
            <a:r>
              <a:rPr lang="en-US" dirty="0"/>
              <a:t>/auth/login</a:t>
            </a:r>
            <a:br>
              <a:rPr lang="en-US" dirty="0"/>
            </a:br>
            <a:r>
              <a:rPr lang="en-US" dirty="0"/>
              <a:t>Token- </a:t>
            </a:r>
            <a:r>
              <a:rPr lang="en-US" dirty="0" err="1"/>
              <a:t>localStorage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1C194-4160-9AEE-631B-2BD07C42C397}"/>
              </a:ext>
            </a:extLst>
          </p:cNvPr>
          <p:cNvSpPr txBox="1"/>
          <p:nvPr/>
        </p:nvSpPr>
        <p:spPr>
          <a:xfrm>
            <a:off x="4408687" y="2399543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2</a:t>
            </a:r>
            <a:br>
              <a:rPr lang="en-US" dirty="0"/>
            </a:br>
            <a:r>
              <a:rPr lang="en-US" dirty="0"/>
              <a:t>CALENDAR</a:t>
            </a:r>
            <a:br>
              <a:rPr lang="en-US" dirty="0"/>
            </a:br>
            <a:r>
              <a:rPr lang="en-US" dirty="0" err="1"/>
              <a:t>Selecteaza</a:t>
            </a:r>
            <a:r>
              <a:rPr lang="en-US" dirty="0"/>
              <a:t> </a:t>
            </a:r>
            <a:r>
              <a:rPr lang="en-US" dirty="0" err="1"/>
              <a:t>ziua</a:t>
            </a:r>
            <a:br>
              <a:rPr lang="en-US" dirty="0"/>
            </a:br>
            <a:r>
              <a:rPr lang="en-US" dirty="0"/>
              <a:t>din </a:t>
            </a:r>
            <a:r>
              <a:rPr lang="en-US" dirty="0" err="1"/>
              <a:t>calendar.svelte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6C88B-9319-5864-10FB-01A227EBC025}"/>
              </a:ext>
            </a:extLst>
          </p:cNvPr>
          <p:cNvSpPr txBox="1"/>
          <p:nvPr/>
        </p:nvSpPr>
        <p:spPr>
          <a:xfrm>
            <a:off x="8261820" y="2399544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3</a:t>
            </a:r>
            <a:br>
              <a:rPr lang="en-US" dirty="0"/>
            </a:br>
            <a:r>
              <a:rPr lang="en-US" dirty="0"/>
              <a:t>SLOTURI</a:t>
            </a:r>
            <a:br>
              <a:rPr lang="en-US" dirty="0"/>
            </a:br>
            <a:r>
              <a:rPr lang="en-US" dirty="0"/>
              <a:t>GET</a:t>
            </a:r>
            <a:br>
              <a:rPr lang="en-US" dirty="0"/>
            </a:br>
            <a:r>
              <a:rPr lang="en-US" dirty="0"/>
              <a:t>/</a:t>
            </a:r>
            <a:r>
              <a:rPr lang="en-US" dirty="0" err="1"/>
              <a:t>sloturi</a:t>
            </a:r>
            <a:r>
              <a:rPr lang="en-US" dirty="0"/>
              <a:t>/</a:t>
            </a:r>
            <a:r>
              <a:rPr lang="en-US" dirty="0" err="1"/>
              <a:t>libere</a:t>
            </a:r>
            <a:r>
              <a:rPr lang="en-US" dirty="0"/>
              <a:t>/{data}</a:t>
            </a:r>
            <a:br>
              <a:rPr lang="en-US" dirty="0"/>
            </a:br>
            <a:r>
              <a:rPr lang="en-US" dirty="0"/>
              <a:t>Vede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orele</a:t>
            </a:r>
            <a:r>
              <a:rPr lang="en-US" dirty="0"/>
              <a:t> </a:t>
            </a:r>
            <a:r>
              <a:rPr lang="en-US" dirty="0" err="1"/>
              <a:t>libere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32BEE-1459-BF67-86E7-3A68624C5A39}"/>
              </a:ext>
            </a:extLst>
          </p:cNvPr>
          <p:cNvSpPr txBox="1"/>
          <p:nvPr/>
        </p:nvSpPr>
        <p:spPr>
          <a:xfrm>
            <a:off x="843103" y="4671166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4</a:t>
            </a:r>
            <a:br>
              <a:rPr lang="en-US" dirty="0"/>
            </a:br>
            <a:r>
              <a:rPr lang="en-US" dirty="0"/>
              <a:t>DIALOG|</a:t>
            </a:r>
            <a:br>
              <a:rPr lang="en-US" dirty="0"/>
            </a:br>
            <a:r>
              <a:rPr lang="en-US" dirty="0" err="1"/>
              <a:t>DialogProgramarePacient.svelte</a:t>
            </a:r>
            <a:br>
              <a:rPr lang="en-US" dirty="0"/>
            </a:br>
            <a:r>
              <a:rPr lang="en-US" dirty="0"/>
              <a:t>tip </a:t>
            </a:r>
            <a:r>
              <a:rPr lang="en-US" dirty="0" err="1"/>
              <a:t>consultatie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B56B8-A12E-B4D8-FF9A-F52C35EDC57F}"/>
              </a:ext>
            </a:extLst>
          </p:cNvPr>
          <p:cNvSpPr txBox="1"/>
          <p:nvPr/>
        </p:nvSpPr>
        <p:spPr>
          <a:xfrm>
            <a:off x="4408688" y="4671167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5</a:t>
            </a:r>
            <a:br>
              <a:rPr lang="en-US" dirty="0"/>
            </a:br>
            <a:r>
              <a:rPr lang="en-US" dirty="0"/>
              <a:t>VERIFICARE</a:t>
            </a:r>
            <a:br>
              <a:rPr lang="en-US" dirty="0"/>
            </a:br>
            <a:r>
              <a:rPr lang="en-US"/>
              <a:t>slot liber?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280FE-33EF-2887-F607-B29A13E029A8}"/>
              </a:ext>
            </a:extLst>
          </p:cNvPr>
          <p:cNvSpPr txBox="1"/>
          <p:nvPr/>
        </p:nvSpPr>
        <p:spPr>
          <a:xfrm>
            <a:off x="8261819" y="4671166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6</a:t>
            </a:r>
            <a:br>
              <a:rPr lang="en-US" dirty="0"/>
            </a:br>
            <a:r>
              <a:rPr lang="en-US" dirty="0"/>
              <a:t>SALVAT</a:t>
            </a:r>
            <a:br>
              <a:rPr lang="en-US" dirty="0"/>
            </a:br>
            <a:r>
              <a:rPr lang="en-US" dirty="0"/>
              <a:t>POST/</a:t>
            </a:r>
            <a:r>
              <a:rPr lang="en-US" dirty="0" err="1"/>
              <a:t>progamari</a:t>
            </a:r>
            <a:r>
              <a:rPr lang="en-US" dirty="0"/>
              <a:t>/</a:t>
            </a:r>
            <a:br>
              <a:rPr lang="en-US" dirty="0"/>
            </a:br>
            <a:r>
              <a:rPr lang="en-US" dirty="0"/>
              <a:t>stare:'</a:t>
            </a:r>
            <a:r>
              <a:rPr lang="en-US" dirty="0" err="1"/>
              <a:t>programat</a:t>
            </a:r>
            <a:r>
              <a:rPr lang="en-US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51208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sky with clouds&#10;&#10;AI-generated content may be incorrect.">
            <a:extLst>
              <a:ext uri="{FF2B5EF4-FFF2-40B4-BE49-F238E27FC236}">
                <a16:creationId xmlns:a16="http://schemas.microsoft.com/office/drawing/2014/main" id="{10EC09D7-F503-1EA5-9F2E-A650D121C8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2581618" y="-944107"/>
            <a:ext cx="4394014" cy="89157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EB1B35-5340-CD62-33B7-779F7084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30" y="-357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/>
                <a:cs typeface="Times New Roman"/>
              </a:rPr>
              <a:t>Concluzii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D46D-124B-E757-C492-34E9AB994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30" y="171174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Ce am </a:t>
            </a:r>
            <a:r>
              <a:rPr lang="en-US" dirty="0" err="1">
                <a:latin typeface="Times New Roman"/>
                <a:cs typeface="Times New Roman"/>
              </a:rPr>
              <a:t>realizat</a:t>
            </a:r>
            <a:r>
              <a:rPr lang="en-US" dirty="0">
                <a:latin typeface="Times New Roman"/>
                <a:cs typeface="Times New Roman"/>
              </a:rPr>
              <a:t>:</a:t>
            </a:r>
            <a:endParaRPr lang="en-US" dirty="0">
              <a:latin typeface="Aptos" panose="020B0004020202020204"/>
              <a:cs typeface="Times New Roman"/>
            </a:endParaRPr>
          </a:p>
          <a:p>
            <a:r>
              <a:rPr lang="en-US" dirty="0" err="1">
                <a:latin typeface="Times New Roman"/>
                <a:cs typeface="Times New Roman"/>
              </a:rPr>
              <a:t>Sistem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complet</a:t>
            </a:r>
            <a:r>
              <a:rPr lang="en-US" dirty="0">
                <a:latin typeface="Times New Roman"/>
                <a:cs typeface="Times New Roman"/>
              </a:rPr>
              <a:t> functional </a:t>
            </a:r>
            <a:r>
              <a:rPr lang="en-US" dirty="0" err="1">
                <a:latin typeface="Times New Roman"/>
                <a:cs typeface="Times New Roman"/>
              </a:rPr>
              <a:t>FastApi</a:t>
            </a:r>
            <a:r>
              <a:rPr lang="en-US" dirty="0">
                <a:latin typeface="Times New Roman"/>
                <a:cs typeface="Times New Roman"/>
              </a:rPr>
              <a:t> + Svelte</a:t>
            </a:r>
            <a:endParaRPr lang="en-US" dirty="0">
              <a:latin typeface="Aptos" panose="020B0004020202020204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Calendar </a:t>
            </a:r>
            <a:r>
              <a:rPr lang="en-US" dirty="0" err="1">
                <a:latin typeface="Times New Roman"/>
                <a:cs typeface="Times New Roman"/>
              </a:rPr>
              <a:t>interactiv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sloturi</a:t>
            </a:r>
            <a:r>
              <a:rPr lang="en-US" dirty="0">
                <a:latin typeface="Times New Roman"/>
                <a:cs typeface="Times New Roman"/>
              </a:rPr>
              <a:t> in </a:t>
            </a:r>
            <a:r>
              <a:rPr lang="en-US" dirty="0" err="1">
                <a:latin typeface="Times New Roman"/>
                <a:cs typeface="Times New Roman"/>
              </a:rPr>
              <a:t>timp</a:t>
            </a:r>
            <a:r>
              <a:rPr lang="en-US" dirty="0">
                <a:latin typeface="Times New Roman"/>
                <a:cs typeface="Times New Roman"/>
              </a:rPr>
              <a:t> real</a:t>
            </a:r>
            <a:endParaRPr lang="en-US" dirty="0">
              <a:latin typeface="Aptos" panose="020B0004020202020204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Regula anti-spam maxim 3 </a:t>
            </a:r>
            <a:r>
              <a:rPr lang="en-US" dirty="0" err="1">
                <a:latin typeface="Times New Roman"/>
                <a:cs typeface="Times New Roman"/>
              </a:rPr>
              <a:t>programari</a:t>
            </a:r>
            <a:r>
              <a:rPr lang="en-US" dirty="0">
                <a:latin typeface="Times New Roman"/>
                <a:cs typeface="Times New Roman"/>
              </a:rPr>
              <a:t> per </a:t>
            </a:r>
            <a:r>
              <a:rPr lang="en-US" dirty="0" err="1">
                <a:latin typeface="Times New Roman"/>
                <a:cs typeface="Times New Roman"/>
              </a:rPr>
              <a:t>pacient</a:t>
            </a:r>
            <a:endParaRPr lang="en-US" err="1">
              <a:latin typeface="Aptos" panose="020B0004020202020204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Portale </a:t>
            </a:r>
            <a:r>
              <a:rPr lang="en-US" dirty="0" err="1">
                <a:latin typeface="Times New Roman"/>
                <a:cs typeface="Times New Roman"/>
              </a:rPr>
              <a:t>distincte</a:t>
            </a:r>
            <a:r>
              <a:rPr lang="en-US" dirty="0">
                <a:latin typeface="Times New Roman"/>
                <a:cs typeface="Times New Roman"/>
              </a:rPr>
              <a:t> medic/</a:t>
            </a:r>
            <a:r>
              <a:rPr lang="en-US" dirty="0" err="1">
                <a:latin typeface="Times New Roman"/>
                <a:cs typeface="Times New Roman"/>
              </a:rPr>
              <a:t>pacient</a:t>
            </a:r>
            <a:endParaRPr lang="en-US">
              <a:latin typeface="Aptos" panose="020B0004020202020204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Toast </a:t>
            </a:r>
            <a:r>
              <a:rPr lang="en-US" dirty="0" err="1">
                <a:latin typeface="Times New Roman"/>
                <a:cs typeface="Times New Roman"/>
              </a:rPr>
              <a:t>notificari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feedback 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5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sky with clouds&#10;&#10;AI-generated content may be incorrect.">
            <a:extLst>
              <a:ext uri="{FF2B5EF4-FFF2-40B4-BE49-F238E27FC236}">
                <a16:creationId xmlns:a16="http://schemas.microsoft.com/office/drawing/2014/main" id="{A1926727-27C2-3643-7179-5A20B5D4B6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5031594" y="800092"/>
            <a:ext cx="2047857" cy="89157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1EE12B-ED4C-FB43-8C3A-DA8392B6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995" y="2098675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Multumim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atentie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699AF-576A-1FA9-4F33-9B04F6B41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0964" y="442244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Times New Roman"/>
                <a:cs typeface="Times New Roman"/>
              </a:rPr>
              <a:t>Proiect</a:t>
            </a:r>
            <a:r>
              <a:rPr lang="en-US" dirty="0">
                <a:latin typeface="Times New Roman"/>
                <a:cs typeface="Times New Roman"/>
              </a:rPr>
              <a:t>: </a:t>
            </a:r>
            <a:r>
              <a:rPr lang="en-US" dirty="0" err="1">
                <a:latin typeface="Times New Roman"/>
                <a:cs typeface="Times New Roman"/>
              </a:rPr>
              <a:t>SchedulerMedical</a:t>
            </a:r>
            <a:r>
              <a:rPr lang="en-US" dirty="0">
                <a:latin typeface="Times New Roman"/>
                <a:cs typeface="Times New Roman"/>
              </a:rPr>
              <a:t> – Clinica GI Med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Autori: Pop Maria-Ioana, Ciocan Gabriel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Stack: </a:t>
            </a:r>
            <a:r>
              <a:rPr lang="en-US" dirty="0" err="1">
                <a:latin typeface="Times New Roman"/>
                <a:cs typeface="Times New Roman"/>
              </a:rPr>
              <a:t>FastAPI</a:t>
            </a:r>
            <a:r>
              <a:rPr lang="en-US" dirty="0">
                <a:latin typeface="Times New Roman"/>
                <a:cs typeface="Times New Roman"/>
              </a:rPr>
              <a:t> + Svelte + </a:t>
            </a:r>
            <a:r>
              <a:rPr lang="en-US" dirty="0" err="1">
                <a:latin typeface="Times New Roman"/>
                <a:cs typeface="Times New Roman"/>
              </a:rPr>
              <a:t>PostgresSQL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Repo: </a:t>
            </a:r>
            <a:r>
              <a:rPr lang="en-US" u="sng" dirty="0">
                <a:latin typeface="Times New Roman"/>
                <a:ea typeface="+mn-lt"/>
                <a:cs typeface="Times New Roman"/>
                <a:hlinkClick r:id="rId5"/>
              </a:rPr>
              <a:t>github.com/ioanaamaria1/SchedulerMedical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639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Scheduler inteligent pentru programări medicale</vt:lpstr>
      <vt:lpstr>PowerPoint Presentation</vt:lpstr>
      <vt:lpstr>PowerPoint Presentation</vt:lpstr>
      <vt:lpstr>PowerPoint Presentation</vt:lpstr>
      <vt:lpstr>Arhitectura sistemului</vt:lpstr>
      <vt:lpstr>Baze de Date – models.py</vt:lpstr>
      <vt:lpstr>Portalul medicului - Dashboard</vt:lpstr>
      <vt:lpstr>Portalul pacientului</vt:lpstr>
      <vt:lpstr>Fluxul complet de programare a unui pacient</vt:lpstr>
      <vt:lpstr>Concluzii</vt:lpstr>
      <vt:lpstr>Multumim pentru atentie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436</cp:revision>
  <dcterms:created xsi:type="dcterms:W3CDTF">2026-05-01T20:04:09Z</dcterms:created>
  <dcterms:modified xsi:type="dcterms:W3CDTF">2026-05-14T01:15:49Z</dcterms:modified>
</cp:coreProperties>
</file>